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EF2C-FFB2-69F0-0D6A-4DDE93D83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EECDD-B83F-C1AC-3411-C8B66921A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E7669-D2D8-D761-291F-0458EA4A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B06B7-EF95-5789-39AB-B1B891EC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ED94-2327-A8CF-FB46-C8A60D1E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45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A06C-636B-B51B-F2BA-302BDDDB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9A397-F351-8FAD-E23C-66D06537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224B7-07A0-B943-109B-E357E18C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A012-2D27-5177-F4ED-7A0A0670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57FF-56C6-9AAC-0F52-3F9A032D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05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E014-DEAA-A295-8ADA-62FDB7D4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F5F28-251E-1FC1-2F12-0476D975E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4480-FD55-1816-C8ED-FF0E0D03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6D1B6-F536-D853-5926-8BF2E138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4A4B-8B0F-B1D0-5F7D-28A6799A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14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9C59-9F1F-3BE6-0716-4CF123264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3641-133C-6ABF-6233-D07E3FC72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FB491-88E1-D7EC-B418-974616FD7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4F409-139F-E9AD-0AD4-ED850786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35100-7D7A-275B-D00B-08E3A851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EE019-3A62-9D54-DEE4-5A5166DA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4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40D1-2750-2BC5-7FF4-F67C5A74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FBAF-223F-7280-A948-C92D51695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F5A9C-FEFE-1324-2C70-D63871031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1F5CA-ABE9-6E5E-CB88-523108E7E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9D4B2-241E-A71A-6A40-EEA103BD9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B82A7-A729-84F9-6BA9-54A06D68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75136-957D-7FE4-FAF9-B16B126B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0DA48-9D06-B199-B690-D853E114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96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BA25-DCAD-5439-7DF7-E66B8A84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6DCCB-94ED-7FF5-6F36-B28AC8E6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441B5-BC05-2ACA-0434-0978601A9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5B5A6-E792-BA08-47CE-204B07A7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79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34D3E-B7BA-B03F-C063-7AD10D82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7E264-3308-06D7-0344-73D0EFBE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BB3A1-E216-9775-12C3-FB6D43D2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60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09C0-3A6F-5DCA-72F2-FA6DB5A5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8DFD7-CFF8-24C6-7B65-C919059E8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E2D43-C58E-40A6-A516-9E980E8A4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99FC1-7E20-3F15-864C-7552020F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82AEA-A2CF-C031-A7D1-A0639B7C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528AD-2D34-7110-360D-42229F03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442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9FB2-1599-A54C-7044-0B9C7B99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49ECD-06D0-7704-C86D-530CC8E92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A0FCB-5787-75C4-26C6-A8D15DC94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0EC16-69B7-6BFB-D42E-69AA23C8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B43FB-7F15-5360-C8F9-B9D84C4F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626B1-F32F-CC1C-37A4-444FA959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81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C3F7-2AF8-9386-1339-D58FDBD1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AC5D1-15A4-31A1-B493-4ADAC86E4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AFAB1-C7EC-EF2C-5758-30E1502C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1BE0-CD31-BD45-3FFD-5B25FC03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A70E6-9E62-BA83-968B-E6F33D2E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74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EB361-F625-D179-B7DF-823861B79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9D6B5-FCA0-2FDF-0D4C-F9FCA631F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0B11-1C04-EF5B-23CC-1E5095B74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94B6-8C5A-EF1B-6D6E-2187B3BE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3A677-8B95-0DB3-E40E-7B9DC2A1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018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56FA6-DC4E-2A78-C51E-F950B8D7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8D299-7168-BAB4-4435-F0317DAA6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41A5-91E4-8F51-0104-D94F5203C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56914-20FD-433B-BA5C-9FAC536216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FC83-81AF-6CE5-7C17-DBF942C73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58167-435B-52A2-5A08-629748335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7C31A-1A2B-42D9-BB2D-0BE4073F3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1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deep2412/Enhancing-CART-with-a-K-Means-and-Random-Forest-Ensemble-for-Robust-Segmentation/tree/ma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3E43C5-9A0F-5B54-AEB5-AF20D833D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80"/>
            <a:ext cx="12192000" cy="6841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3FF906-7FE7-6437-E6B4-3EAFC31F5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4398"/>
            <a:ext cx="9144000" cy="1793779"/>
          </a:xfrm>
        </p:spPr>
        <p:txBody>
          <a:bodyPr>
            <a:normAutofit/>
          </a:bodyPr>
          <a:lstStyle/>
          <a:p>
            <a:r>
              <a:rPr lang="en-IN" sz="48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Enhancing CART</a:t>
            </a:r>
            <a:r>
              <a:rPr lang="en-IN" sz="48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For Customer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23056-ABFC-5E96-FA76-16E430359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7992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Machine Learning?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quick introduction.</a:t>
            </a:r>
          </a:p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Data: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essential first step.</a:t>
            </a:r>
          </a:p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CART Algorithm: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prediction model.</a:t>
            </a:r>
          </a:p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do we measure success?</a:t>
            </a:r>
          </a:p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Making our model smarter with Grid Search.</a:t>
            </a:r>
          </a:p>
          <a:p>
            <a:pPr algn="l"/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Results: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Comparing our baseline vs. optimized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53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ckground Images - Free Download on ...">
            <a:extLst>
              <a:ext uri="{FF2B5EF4-FFF2-40B4-BE49-F238E27FC236}">
                <a16:creationId xmlns:a16="http://schemas.microsoft.com/office/drawing/2014/main" id="{2B7CEDCB-544E-6D22-03FA-8A5F55BA1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88EB3-0902-3EF0-4DC9-0FD2DB7496CC}"/>
              </a:ext>
            </a:extLst>
          </p:cNvPr>
          <p:cNvSpPr txBox="1"/>
          <p:nvPr/>
        </p:nvSpPr>
        <p:spPr>
          <a:xfrm>
            <a:off x="0" y="240631"/>
            <a:ext cx="1126155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/>
              <a:t>What is Machine Learning (ML)? 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Teaching Computers to Learn from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field of AI that gives computers the ability to learn and make predictions without being explicitly programmed for the task.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most common type, where the model learns from data that is already labeled with the correct answer. It's like learning with a teacher.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(Classification):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will use supervised learning to solve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problem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model will learn from past client data to predict a binary outcome: Will a future client subscribe to a term deposit?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1088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ackground Images - Free Download on ...">
            <a:extLst>
              <a:ext uri="{FF2B5EF4-FFF2-40B4-BE49-F238E27FC236}">
                <a16:creationId xmlns:a16="http://schemas.microsoft.com/office/drawing/2014/main" id="{8CF64855-E6BB-2EC7-1142-543BBA4F9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D639E5-4060-9436-68B0-815732230F9C}"/>
              </a:ext>
            </a:extLst>
          </p:cNvPr>
          <p:cNvSpPr txBox="1"/>
          <p:nvPr/>
        </p:nvSpPr>
        <p:spPr>
          <a:xfrm>
            <a:off x="0" y="0"/>
            <a:ext cx="1219200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/>
              <a:t>Data Preparation: The Foundation </a:t>
            </a:r>
          </a:p>
          <a:p>
            <a:pPr>
              <a:buNone/>
            </a:pPr>
            <a:endParaRPr lang="en-US" sz="2400" b="1" dirty="0"/>
          </a:p>
          <a:p>
            <a:pPr lvl="1"/>
            <a:r>
              <a:rPr lang="en-US" sz="2400" b="1" dirty="0"/>
              <a:t>"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In, Garbage Out"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of your model is completely dependent on the quality of your data. This preparation phase is crucial.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Did in the Code: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the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Imported the bank marketing dataset.</a:t>
            </a:r>
          </a:p>
          <a:p>
            <a:pPr lvl="1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Dropped the duration column. In a real-world scenario, you don't know the duration of a call before you make it, so including it would be "cheating" (this is called data leakage).</a:t>
            </a:r>
          </a:p>
          <a:p>
            <a:pPr lvl="1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Features: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algorithms need numbers, not text. We used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text-based columns (like 'job', 'marital', 'education') into a numerical format the model can understand.</a:t>
            </a:r>
          </a:p>
          <a:p>
            <a:pPr lvl="1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divided our dataset into: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(80%):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teach the model.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Set (20%):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Held back to evaluate the model's performance on new, unseen data.</a:t>
            </a:r>
          </a:p>
        </p:txBody>
      </p:sp>
    </p:spTree>
    <p:extLst>
      <p:ext uri="{BB962C8B-B14F-4D97-AF65-F5344CB8AC3E}">
        <p14:creationId xmlns:p14="http://schemas.microsoft.com/office/powerpoint/2010/main" val="96416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ackground Images - Free Download on ...">
            <a:extLst>
              <a:ext uri="{FF2B5EF4-FFF2-40B4-BE49-F238E27FC236}">
                <a16:creationId xmlns:a16="http://schemas.microsoft.com/office/drawing/2014/main" id="{1683FBAE-721A-F575-8B38-51B3D03D4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A9C83-9203-519E-C04D-54CBB6227389}"/>
              </a:ext>
            </a:extLst>
          </p:cNvPr>
          <p:cNvSpPr txBox="1"/>
          <p:nvPr/>
        </p:nvSpPr>
        <p:spPr>
          <a:xfrm>
            <a:off x="0" y="192505"/>
            <a:ext cx="12192000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/>
              <a:t>The Algorithm: Decision Trees (CART) 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Predictions with a Flowchart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Regression Tree (CART)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algorithm, commonly known as a Decision Tree, is our core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creates a tree-like model of decisions. It splits the data into smaller and smaller groups based on the most informative features to make a final prediction.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Think of it like a game of "20 Questions." The model asks a series of questions about the data (e.g.,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age &gt; 50?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contact cellular?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arrive at a conclusion ('Yes' or 'No').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First Step: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trained an initial "baseline" tree to see how it performs with basic settings.</a:t>
            </a:r>
          </a:p>
        </p:txBody>
      </p:sp>
    </p:spTree>
    <p:extLst>
      <p:ext uri="{BB962C8B-B14F-4D97-AF65-F5344CB8AC3E}">
        <p14:creationId xmlns:p14="http://schemas.microsoft.com/office/powerpoint/2010/main" val="296835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ackground Images - Free Download on ...">
            <a:extLst>
              <a:ext uri="{FF2B5EF4-FFF2-40B4-BE49-F238E27FC236}">
                <a16:creationId xmlns:a16="http://schemas.microsoft.com/office/drawing/2014/main" id="{7852392A-0659-12FF-C83E-3FBCF8320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275CD5-C442-A6C9-2F7B-02701CA45290}"/>
              </a:ext>
            </a:extLst>
          </p:cNvPr>
          <p:cNvSpPr txBox="1"/>
          <p:nvPr/>
        </p:nvSpPr>
        <p:spPr>
          <a:xfrm>
            <a:off x="0" y="197346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/>
              <a:t>Evaluation: How Good is Our Model? 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Accuracy: Understanding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if our model is any good, we must evaluate it on the test set using several key metrics.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starting point.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breakdown of our predictions: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Positives (TP):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Correctly predicted 'Yes'.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Negatives (TN):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Correctly predicted 'No'.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(FP):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Incorrectly predicted 'Yes'.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 (FN):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Incorrectly predicted 'No'.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from the Matrix: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what percentage of predictions were correct? (TP+TN) / Total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the times we predicted 'Yes', how often were we right? TP / (TP+FP)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the actual 'Yes' cases, how many did we find? TP / (TP+FN)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harmonic mean of Precision and Recall. A great single metric for evaluating a model, especially when the data is imbalanced (like ours).</a:t>
            </a:r>
          </a:p>
        </p:txBody>
      </p:sp>
    </p:spTree>
    <p:extLst>
      <p:ext uri="{BB962C8B-B14F-4D97-AF65-F5344CB8AC3E}">
        <p14:creationId xmlns:p14="http://schemas.microsoft.com/office/powerpoint/2010/main" val="1822958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ackground Images - Free Download on ...">
            <a:extLst>
              <a:ext uri="{FF2B5EF4-FFF2-40B4-BE49-F238E27FC236}">
                <a16:creationId xmlns:a16="http://schemas.microsoft.com/office/drawing/2014/main" id="{78518131-D227-3F7B-3696-BFD343B1B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AB6945-2B10-E28C-FED9-007920DA8BCB}"/>
              </a:ext>
            </a:extLst>
          </p:cNvPr>
          <p:cNvSpPr txBox="1"/>
          <p:nvPr/>
        </p:nvSpPr>
        <p:spPr>
          <a:xfrm>
            <a:off x="0" y="224590"/>
            <a:ext cx="1207970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/>
              <a:t>The Problem: Overfitting &amp; The Need for Tuning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Model "Memorizes" Instead of "Learns"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Overfitting?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model that is overfit has learned the training data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well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noise. It performs exceptionally on the data it has seen but fails to generalize to new, unseen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student who crams for a test by memorizing the exact questions and answers from a study guide. They will fail if the real exam has slightly different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 Hyperparameter Tuning.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control the model's complexity by tuning its settings (hyperparameters)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starts training. For a Decision Tree, key settings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maximum number of levels in the tree.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minimum samples required to make a final decision leaf.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criterion: The mathematical function used to measure the quality of a split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entropy).</a:t>
            </a:r>
          </a:p>
        </p:txBody>
      </p:sp>
    </p:spTree>
    <p:extLst>
      <p:ext uri="{BB962C8B-B14F-4D97-AF65-F5344CB8AC3E}">
        <p14:creationId xmlns:p14="http://schemas.microsoft.com/office/powerpoint/2010/main" val="298080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Background Images - Free Download on ...">
            <a:extLst>
              <a:ext uri="{FF2B5EF4-FFF2-40B4-BE49-F238E27FC236}">
                <a16:creationId xmlns:a16="http://schemas.microsoft.com/office/drawing/2014/main" id="{D83A0725-E576-17FB-3477-F4241B515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8F8D69-C491-B4A0-7F71-30A268721FA5}"/>
              </a:ext>
            </a:extLst>
          </p:cNvPr>
          <p:cNvSpPr txBox="1"/>
          <p:nvPr/>
        </p:nvSpPr>
        <p:spPr>
          <a:xfrm>
            <a:off x="0" y="0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/>
              <a:t>The Technique: Grid Search with Cross-Validation (CV) </a:t>
            </a:r>
          </a:p>
          <a:p>
            <a:pPr>
              <a:buNone/>
            </a:pPr>
            <a:r>
              <a:rPr lang="en-US" sz="5400" b="1" dirty="0"/>
              <a:t>Systematically Finding the Best Settings</a:t>
            </a:r>
            <a:endParaRPr lang="en-US" sz="5400" dirty="0"/>
          </a:p>
          <a:p>
            <a:pPr>
              <a:buNone/>
            </a:pPr>
            <a:endParaRPr lang="en-US" dirty="0"/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find the best combination of hyperparameters? We let the computer do the work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Grid Search Works: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Grid: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create a "grid" of all the hyperparameter values we want to test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[5, 10, 15],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[5, 10, 20]).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Search: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exhaustively trains and evaluates a model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possible combination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grid.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(CV):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robust results, it splits the training data into multiple "folds" and averages the performance, preventing a "lucky split" from biasing the result.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identifies the combination that yields the highest performance (we used the F1-score as our target).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Result: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Grid Search found the optimal settings to be criterion='entropy',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=5.</a:t>
            </a:r>
          </a:p>
        </p:txBody>
      </p:sp>
    </p:spTree>
    <p:extLst>
      <p:ext uri="{BB962C8B-B14F-4D97-AF65-F5344CB8AC3E}">
        <p14:creationId xmlns:p14="http://schemas.microsoft.com/office/powerpoint/2010/main" val="147156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Background Images - Free Download on ...">
            <a:extLst>
              <a:ext uri="{FF2B5EF4-FFF2-40B4-BE49-F238E27FC236}">
                <a16:creationId xmlns:a16="http://schemas.microsoft.com/office/drawing/2014/main" id="{6E92756B-4375-4BE0-4896-DB3BDDC4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72A8F2-0A1B-C3C0-9B30-D47A552DB3EE}"/>
              </a:ext>
            </a:extLst>
          </p:cNvPr>
          <p:cNvSpPr txBox="1"/>
          <p:nvPr/>
        </p:nvSpPr>
        <p:spPr>
          <a:xfrm>
            <a:off x="112295" y="304800"/>
            <a:ext cx="1207970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The Full ML Workflow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Baseline Guess to an Optimized Prediction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following a structured process, we significantly improved our model's ability to make reliable predictions.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Journey Recap: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started with raw data and cleaned, encoded, and prepared it for modeling.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trained a simple CART model to establish a performance benchmark.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a confusion matrix and classification report to see where the baseline model was weak.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Search CV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find the best hyperparameters to prevent overfitting and improve generalization.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trained a new, optimized model that performs better on unseen data.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a great machine learning model is an iterative cycle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preparation, modeling, evaluation, and tuning.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72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Background Images - Free Download on ...">
            <a:extLst>
              <a:ext uri="{FF2B5EF4-FFF2-40B4-BE49-F238E27FC236}">
                <a16:creationId xmlns:a16="http://schemas.microsoft.com/office/drawing/2014/main" id="{C6290927-2BE7-F674-4D18-F4B6BBCB9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57"/>
            <a:ext cx="12192000" cy="684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5B707E-422F-4095-9520-81CE9B70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34465"/>
            <a:ext cx="6004861" cy="51506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044AFE-15C7-E328-A63F-5F08B2D07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27" y="934464"/>
            <a:ext cx="5715004" cy="5150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168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1185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Enhancing CART Model For Customer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Laptop</dc:creator>
  <cp:lastModifiedBy>Sudeep Kumar</cp:lastModifiedBy>
  <cp:revision>3</cp:revision>
  <dcterms:created xsi:type="dcterms:W3CDTF">2025-09-24T13:53:39Z</dcterms:created>
  <dcterms:modified xsi:type="dcterms:W3CDTF">2025-09-24T16:59:12Z</dcterms:modified>
</cp:coreProperties>
</file>